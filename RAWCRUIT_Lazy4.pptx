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583680" y="-365760"/>
            <a:ext cx="2926080" cy="2926080"/>
          </a:xfrm>
          <a:prstGeom prst="rect">
            <a:avLst/>
          </a:prstGeom>
          <a:solidFill>
            <a:srgbClr val="3D1F8C">
              <a:alpha val="70000"/>
            </a:srgbClr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7132320" y="91440"/>
            <a:ext cx="2011680" cy="2011680"/>
          </a:xfrm>
          <a:prstGeom prst="rect">
            <a:avLst/>
          </a:prstGeom>
          <a:solidFill>
            <a:srgbClr val="FF6B00">
              <a:alpha val="4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">
            <a:off x="-457200" y="3474720"/>
            <a:ext cx="2286000" cy="2286000"/>
          </a:xfrm>
          <a:prstGeom prst="rect">
            <a:avLst/>
          </a:prstGeom>
          <a:solidFill>
            <a:srgbClr val="5B2DA8">
              <a:alpha val="60000"/>
            </a:srgbClr>
          </a:solidFill>
          <a:ln w="12700">
            <a:solidFill>
              <a:srgbClr val="9B8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4114800"/>
            <a:ext cx="1371600" cy="1371600"/>
          </a:xfrm>
          <a:prstGeom prst="ellipse">
            <a:avLst/>
          </a:prstGeom>
          <a:solidFill>
            <a:srgbClr val="FF6B00">
              <a:alpha val="40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  ·  INDIA.RUNS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RAWCRUIT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1148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871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Discovery &amp; Ranking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 next India runs 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1A1535"/>
          </a:solidFill>
          <a:ln w="19050">
            <a:solidFill>
              <a:srgbClr val="5B2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76732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Lazy4  </a:t>
            </a:r>
            <a:pPr indent="0" marL="0">
              <a:buNone/>
            </a:pPr>
            <a:r>
              <a:rPr lang="en-US" sz="120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Redrob Hackathon 2026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 Chaudhary  ·  Jashan Kainth  ·  Rajat  ·  Ashish Bhagat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7772400" y="-274320"/>
            <a:ext cx="2011680" cy="2011680"/>
          </a:xfrm>
          <a:prstGeom prst="rect">
            <a:avLst/>
          </a:prstGeom>
          <a:solidFill>
            <a:srgbClr val="3D1F8C">
              <a:alpha val="50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3474720"/>
            <a:ext cx="1645920" cy="1645920"/>
          </a:xfrm>
          <a:prstGeom prst="ellipse">
            <a:avLst/>
          </a:prstGeom>
          <a:solidFill>
            <a:srgbClr val="FF6B00">
              <a:alpha val="3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RAWCRUIT?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01168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61872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A1535"/>
          </a:solidFill>
          <a:ln w="12700">
            <a:solidFill>
              <a:srgbClr val="5B2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5-component hybrid scoring engine that reads job descriptions the way a great recruiter does — not by matching keywords, but by reasoning about fit, trajectory, and availability.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rank 100,000 candidates for a Senior AI Engineer role in ~10 seconds on CPU with zero API calls and zero pip dependencies.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A1535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847088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8196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Title/career check before skills — a Marketing Manager with 10 AI keywords scores near-zero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377440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23500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Anti-keyword-stuffing — skills with &lt;3 months duration carry only 8% weight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07792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88036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availability as a multiplier, not afterthought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438144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34107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 careers penalized 72% (no product-company evidence)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968496"/>
            <a:ext cx="164592" cy="16459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394106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calls at inference — fully deterministic, CPU-only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400000">
            <a:off x="-365760" y="-274320"/>
            <a:ext cx="1828800" cy="1828800"/>
          </a:xfrm>
          <a:prstGeom prst="rect">
            <a:avLst/>
          </a:prstGeom>
          <a:solidFill>
            <a:srgbClr val="FF6B00">
              <a:alpha val="3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046720" y="3566160"/>
            <a:ext cx="1828800" cy="1828800"/>
          </a:xfrm>
          <a:prstGeom prst="rect">
            <a:avLst/>
          </a:prstGeom>
          <a:solidFill>
            <a:srgbClr val="3D1F8C">
              <a:alpha val="55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METHODOLOGY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5-Layer Hybrid Scoring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3D1F8C">
              <a:alpha val="70000"/>
            </a:srgbClr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6187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RAWCRUIT Score  =  Base × Behavioral Multiplier  ∈  [0.05, 1.55]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572768" cy="2834640"/>
          </a:xfrm>
          <a:prstGeom prst="roundRect">
            <a:avLst>
              <a:gd name="adj" fmla="val 5814"/>
            </a:avLst>
          </a:prstGeom>
          <a:solidFill>
            <a:srgbClr val="1A1535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933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6384" y="2743200"/>
            <a:ext cx="914400" cy="27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8163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Career Match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3236976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current title vs 15+ AI/ML patterns. Hard-disqualifies non-AI roles. Consulting-only → −72%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21408" y="1920240"/>
            <a:ext cx="1572768" cy="2834640"/>
          </a:xfrm>
          <a:prstGeom prst="roundRect">
            <a:avLst>
              <a:gd name="adj" fmla="val 5814"/>
            </a:avLst>
          </a:prstGeom>
          <a:solidFill>
            <a:srgbClr val="1A1535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21408" y="19933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23042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450592" y="2743200"/>
            <a:ext cx="9144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28163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Depth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3236976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Duration-trust weighted. Skills &lt;3 months = 8% weight. Endorsement log-scaled + assessment bonus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85616" y="1920240"/>
            <a:ext cx="1572768" cy="2834640"/>
          </a:xfrm>
          <a:prstGeom prst="roundRect">
            <a:avLst>
              <a:gd name="adj" fmla="val 5814"/>
            </a:avLst>
          </a:prstGeom>
          <a:solidFill>
            <a:srgbClr val="1A1535"/>
          </a:solidFill>
          <a:ln w="25400">
            <a:solidFill>
              <a:srgbClr val="5B2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85616" y="19933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85616" y="23042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114800" y="2743200"/>
            <a:ext cx="914400" cy="27432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8163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Quality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3236976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target: 5–9 years. Title-hopping &lt;18 months → penalty. No production evidence → −32%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49824" y="1920240"/>
            <a:ext cx="1572768" cy="2834640"/>
          </a:xfrm>
          <a:prstGeom prst="roundRect">
            <a:avLst>
              <a:gd name="adj" fmla="val 5814"/>
            </a:avLst>
          </a:prstGeom>
          <a:solidFill>
            <a:srgbClr val="1A1535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49824" y="19933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9824" y="23042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779008" y="2743200"/>
            <a:ext cx="91440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28163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3236976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/ Noida / NCR / Hyderabad = 1.0. Willing to relocate = 0.72. Outside India = 0.22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14032" y="1920240"/>
            <a:ext cx="1572768" cy="2834640"/>
          </a:xfrm>
          <a:prstGeom prst="roundRect">
            <a:avLst>
              <a:gd name="adj" fmla="val 5814"/>
            </a:avLst>
          </a:prstGeom>
          <a:solidFill>
            <a:srgbClr val="1A1535"/>
          </a:solidFill>
          <a:ln w="25400">
            <a:solidFill>
              <a:srgbClr val="9B8B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14032" y="199339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14032" y="2304288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443216" y="2743200"/>
            <a:ext cx="914400" cy="27432"/>
          </a:xfrm>
          <a:prstGeom prst="rect">
            <a:avLst/>
          </a:prstGeom>
          <a:solidFill>
            <a:srgbClr val="9B8BD4"/>
          </a:solidFill>
          <a:ln w="12700">
            <a:solidFill>
              <a:srgbClr val="9B8B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281635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Tier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68896" y="3236976"/>
            <a:ext cx="1463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+ CS/AI field → up to 1.0. M.Tech / PhD bonus. Least important factor by design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7863840" y="-457200"/>
            <a:ext cx="2286000" cy="2286000"/>
          </a:xfrm>
          <a:prstGeom prst="rect">
            <a:avLst/>
          </a:prstGeom>
          <a:solidFill>
            <a:srgbClr val="FF6B00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UNDERSTANDING &amp; CANDIDATE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Keyword Matching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1A1535"/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350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JD Requirements Extracted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2700000">
            <a:off x="640080" y="1737360"/>
            <a:ext cx="128016" cy="12801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00784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fit: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 — title + career must match, not just skills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2700000">
            <a:off x="640080" y="2221992"/>
            <a:ext cx="128016" cy="12801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85416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band: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years; overqualified (&gt;13 yr) also flagged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2700000">
            <a:off x="640080" y="2706624"/>
            <a:ext cx="128016" cy="12801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7004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depth: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AI expertise: embeddings, retrieval, ranking, A/B 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2700000">
            <a:off x="640080" y="3191256"/>
            <a:ext cx="128016" cy="12801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15468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 / Noida / NCR / Hyderabad preferred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2700000">
            <a:off x="640080" y="3675888"/>
            <a:ext cx="128016" cy="12801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639312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profiles, low notice period, high response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2700000">
            <a:off x="640080" y="4160520"/>
            <a:ext cx="128016" cy="12801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123944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warning: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keywords in non-AI title = trap; explicitly handled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207008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1A1535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350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Signals Prioritized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256032" cy="25603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1709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match: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weight — most important; pattern match against 15+ AI roles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304288"/>
            <a:ext cx="256032" cy="25603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04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0368" y="2276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descriptions: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scan for 'production', 'NDCG', 'A/B test', 'retrieval'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871216"/>
            <a:ext cx="256032" cy="25603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28437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duration trust: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+ 12 months = full weight; &lt;3 months = 8% weight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438144"/>
            <a:ext cx="256032" cy="25603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30368" y="34107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availability: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0.05–1.55 based on activity, response rate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4005072"/>
            <a:ext cx="256032" cy="256032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05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0368" y="3977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tier: </a:t>
            </a:r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CS/AI grad adds bonus; not a disqualifier alone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731520"/>
            <a:ext cx="1645920" cy="1645920"/>
          </a:xfrm>
          <a:prstGeom prst="ellipse">
            <a:avLst/>
          </a:prstGeom>
          <a:solidFill>
            <a:srgbClr val="3D1F8C">
              <a:alpha val="50000"/>
            </a:srgbClr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8138160" y="3840480"/>
            <a:ext cx="1645920" cy="1645920"/>
          </a:xfrm>
          <a:prstGeom prst="rect">
            <a:avLst/>
          </a:prstGeom>
          <a:solidFill>
            <a:srgbClr val="FF6B00">
              <a:alpha val="3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DATA VALIDATION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Transparent, Anti-Hallucination by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A1535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261872"/>
            <a:ext cx="2368296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5331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Decisions Explained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2700000">
            <a:off x="548640" y="193852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9280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gets per-component scores logged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rot="2700000">
            <a:off x="548640" y="2596896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51176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formula is deterministic — no black box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2700000">
            <a:off x="548640" y="3255264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0954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includes reasoning column per candidate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2700000">
            <a:off x="548640" y="391363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6791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(title×0.35 + skill×0.28 + exp×0.16 + loc×0.12 + edu×0.09) × behavioral_mult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261872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A1535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64992" y="1261872"/>
            <a:ext cx="2368296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35331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 Guarantee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2700000">
            <a:off x="3383280" y="1938528"/>
            <a:ext cx="109728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189280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calls at inference — pure Python stdlib logic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2700000">
            <a:off x="3383280" y="2596896"/>
            <a:ext cx="109728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551176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on structured candidate fields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2700000">
            <a:off x="3383280" y="3255264"/>
            <a:ext cx="109728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320954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generated text in rankings — all signals are numeric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2700000">
            <a:off x="3383280" y="3913632"/>
            <a:ext cx="109728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86791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penalty and bonus maps to an explicit rule with documented weights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261872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A1535"/>
          </a:solidFill>
          <a:ln w="25400">
            <a:solidFill>
              <a:srgbClr val="5B2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1261872"/>
            <a:ext cx="2368296" cy="54864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1353312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&amp; Bad-Profile Handling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2700000">
            <a:off x="6217920" y="1938528"/>
            <a:ext cx="109728" cy="109728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189280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+ 10 AI skills → near-zero (title disqualification)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2700000">
            <a:off x="6217920" y="2596896"/>
            <a:ext cx="109728" cy="109728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2551176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with 0 duration + 0 endorsements → only 8% weight (anti-stuffing)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rot="2700000">
            <a:off x="6217920" y="3255264"/>
            <a:ext cx="109728" cy="109728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209544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Consulting-only career (TCS/Infosys) → 72% base penalty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 rot="2700000">
            <a:off x="6217920" y="3913632"/>
            <a:ext cx="109728" cy="109728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3867912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&gt;180 days → behavioral multiplier −22%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772400" y="-365760"/>
            <a:ext cx="2011680" cy="2011680"/>
          </a:xfrm>
          <a:prstGeom prst="rect">
            <a:avLst/>
          </a:prstGeom>
          <a:solidFill>
            <a:srgbClr val="5B2DA8">
              <a:alpha val="55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JD Input → Ranked Candidate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98448"/>
            <a:ext cx="1536192" cy="3429000"/>
          </a:xfrm>
          <a:prstGeom prst="roundRect">
            <a:avLst>
              <a:gd name="adj" fmla="val 5952"/>
            </a:avLst>
          </a:prstGeom>
          <a:solidFill>
            <a:srgbClr val="1A1535"/>
          </a:solidFill>
          <a:ln w="2540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23544" y="1417320"/>
            <a:ext cx="457200" cy="45720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Parsing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987552" cy="274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95728"/>
            <a:ext cx="135331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Job Description → extract role, location, skill requirements, experience band, behavioral hints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20240" y="2898648"/>
            <a:ext cx="146304" cy="45720"/>
          </a:xfrm>
          <a:prstGeom prst="rect">
            <a:avLst/>
          </a:prstGeom>
          <a:solidFill>
            <a:srgbClr val="8B84A8"/>
          </a:solidFill>
          <a:ln w="12700">
            <a:solidFill>
              <a:srgbClr val="8B84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298448"/>
            <a:ext cx="1536192" cy="3429000"/>
          </a:xfrm>
          <a:prstGeom prst="roundRect">
            <a:avLst>
              <a:gd name="adj" fmla="val 5952"/>
            </a:avLst>
          </a:prstGeom>
          <a:solidFill>
            <a:srgbClr val="1A1535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417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39696" y="196596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Ingestion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40864" y="2331720"/>
            <a:ext cx="987552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2395728"/>
            <a:ext cx="135331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candidates.jsonl → stream 100K records with zero memory bloat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02736" y="2898648"/>
            <a:ext cx="146304" cy="45720"/>
          </a:xfrm>
          <a:prstGeom prst="rect">
            <a:avLst/>
          </a:prstGeom>
          <a:solidFill>
            <a:srgbClr val="8B84A8"/>
          </a:solidFill>
          <a:ln w="12700">
            <a:solidFill>
              <a:srgbClr val="8B84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298448"/>
            <a:ext cx="1536192" cy="3429000"/>
          </a:xfrm>
          <a:prstGeom prst="roundRect">
            <a:avLst>
              <a:gd name="adj" fmla="val 5952"/>
            </a:avLst>
          </a:prstGeom>
          <a:solidFill>
            <a:srgbClr val="1A1535"/>
          </a:solidFill>
          <a:ln w="25400">
            <a:solidFill>
              <a:srgbClr val="5B2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88536" y="1417320"/>
            <a:ext cx="457200" cy="457200"/>
          </a:xfrm>
          <a:prstGeom prst="ellipse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853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22192" y="196596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Scoring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331720"/>
            <a:ext cx="987552" cy="27432"/>
          </a:xfrm>
          <a:prstGeom prst="rect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395728"/>
            <a:ext cx="135331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Title+Career / Skill Depth / Experience / Location / Education → weighted base score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285232" y="2898648"/>
            <a:ext cx="146304" cy="45720"/>
          </a:xfrm>
          <a:prstGeom prst="rect">
            <a:avLst/>
          </a:prstGeom>
          <a:solidFill>
            <a:srgbClr val="8B84A8"/>
          </a:solidFill>
          <a:ln w="12700">
            <a:solidFill>
              <a:srgbClr val="8B84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1298448"/>
            <a:ext cx="1536192" cy="3429000"/>
          </a:xfrm>
          <a:prstGeom prst="roundRect">
            <a:avLst>
              <a:gd name="adj" fmla="val 5952"/>
            </a:avLst>
          </a:prstGeom>
          <a:solidFill>
            <a:srgbClr val="1A1535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71032" y="141732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710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04688" y="196596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Multiplier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05856" y="2331720"/>
            <a:ext cx="987552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976" y="2395728"/>
            <a:ext cx="135331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activity, response rate, notice period, open_to_work signals → final score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67728" y="2898648"/>
            <a:ext cx="146304" cy="45720"/>
          </a:xfrm>
          <a:prstGeom prst="rect">
            <a:avLst/>
          </a:prstGeom>
          <a:solidFill>
            <a:srgbClr val="8B84A8"/>
          </a:solidFill>
          <a:ln w="12700">
            <a:solidFill>
              <a:srgbClr val="8B84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4032" y="1298448"/>
            <a:ext cx="1536192" cy="3429000"/>
          </a:xfrm>
          <a:prstGeom prst="roundRect">
            <a:avLst>
              <a:gd name="adj" fmla="val 5952"/>
            </a:avLst>
          </a:prstGeom>
          <a:solidFill>
            <a:srgbClr val="1A1535"/>
          </a:solidFill>
          <a:ln w="25400">
            <a:solidFill>
              <a:srgbClr val="9B8B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53528" y="1417320"/>
            <a:ext cx="457200" cy="457200"/>
          </a:xfrm>
          <a:prstGeom prst="ellipse">
            <a:avLst/>
          </a:prstGeom>
          <a:solidFill>
            <a:srgbClr val="9B8BD4"/>
          </a:solidFill>
          <a:ln w="12700">
            <a:solidFill>
              <a:srgbClr val="9B8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0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87184" y="196596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Output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88352" y="2331720"/>
            <a:ext cx="987552" cy="27432"/>
          </a:xfrm>
          <a:prstGeom prst="rect">
            <a:avLst/>
          </a:prstGeom>
          <a:solidFill>
            <a:srgbClr val="9B8BD4"/>
          </a:solidFill>
          <a:ln w="12700">
            <a:solidFill>
              <a:srgbClr val="9B8B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5472" y="2395728"/>
            <a:ext cx="1353312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score descending → top-100 to submission.csv with candidate_id, rank, score, reasoning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71600" y="4754880"/>
            <a:ext cx="6400800" cy="256032"/>
          </a:xfrm>
          <a:prstGeom prst="roundRect">
            <a:avLst>
              <a:gd name="adj" fmla="val 21429"/>
            </a:avLst>
          </a:prstGeom>
          <a:solidFill>
            <a:srgbClr val="0A0818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08760" y="4773168"/>
            <a:ext cx="6126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rank.py --candidates ./candidates.jsonl --out ./submission.csv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FF6B00">
              <a:alpha val="3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-274320" y="4114800"/>
            <a:ext cx="1828800" cy="1828800"/>
          </a:xfrm>
          <a:prstGeom prst="rect">
            <a:avLst/>
          </a:prstGeom>
          <a:solidFill>
            <a:srgbClr val="3D1F8C">
              <a:alpha val="50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· Deterministic · Zero Dependencies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2004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3D1F8C">
              <a:alpha val="80000"/>
            </a:srgbClr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441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candidates.jsonl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618488"/>
            <a:ext cx="3657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18872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1A1535"/>
          </a:solidFill>
          <a:ln w="31750">
            <a:solidFill>
              <a:srgbClr val="FF6B0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1280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rank.py  ·  Core Engine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627632"/>
            <a:ext cx="3108960" cy="27432"/>
          </a:xfrm>
          <a:prstGeom prst="rect">
            <a:avLst/>
          </a:prstGeom>
          <a:solidFill>
            <a:srgbClr val="FF6B00">
              <a:alpha val="50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700784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D0B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73736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jd_parser()  </a:t>
            </a:r>
            <a:pPr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requirements from JD text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226771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D0B1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230428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title_career_scorer()  </a:t>
            </a:r>
            <a:pPr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· career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834640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D0B1E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287121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skill_depth_scorer()  </a:t>
            </a:r>
            <a:pPr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trust · endorsement weighting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80360" y="3401568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D0B1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3814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experience_quality()  </a:t>
            </a:r>
            <a:pPr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· hopping · production evidence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3968496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D0B1E"/>
          </a:solidFill>
          <a:ln w="12700">
            <a:solidFill>
              <a:srgbClr val="9B8B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400507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behavioral_multiplier()  </a:t>
            </a:r>
            <a:pPr indent="0" marL="0">
              <a:buNone/>
            </a:pPr>
            <a:r>
              <a:rPr lang="en-US" sz="9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· response rate · availability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1618488"/>
            <a:ext cx="365760" cy="3657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29844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F6B00">
              <a:alpha val="70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34416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submission.csv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ranked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1535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702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459943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candidates on CPU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78608" y="4224528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1535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78608" y="42702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578608" y="459943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dependencies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4224528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1535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42702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91456" y="459943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at inference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04304" y="4224528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A1535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04304" y="42702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3.9+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04304" y="4599432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requirement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589520" y="-365760"/>
            <a:ext cx="2286000" cy="2286000"/>
          </a:xfrm>
          <a:prstGeom prst="rect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Ranked Candidates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38404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5272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04288" y="1252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98848" y="1252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1252728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29016" y="1252728"/>
            <a:ext cx="786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0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664208"/>
            <a:ext cx="8321040" cy="548640"/>
          </a:xfrm>
          <a:prstGeom prst="rect">
            <a:avLst/>
          </a:prstGeom>
          <a:solidFill>
            <a:srgbClr val="1A1535"/>
          </a:solidFill>
          <a:ln w="6350">
            <a:solidFill>
              <a:srgbClr val="5B2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0078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700784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CAND_0000031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04288" y="17007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Eng.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8848" y="170078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01768" y="1700784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AI skills · 0.91 response · product co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29016" y="1700784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0.9999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249424"/>
            <a:ext cx="8321040" cy="548640"/>
          </a:xfrm>
          <a:prstGeom prst="rect">
            <a:avLst/>
          </a:prstGeom>
          <a:solidFill>
            <a:srgbClr val="0D0B1E"/>
          </a:solidFill>
          <a:ln w="6350">
            <a:solidFill>
              <a:srgbClr val="5B2D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860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286000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CAND_0001610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22860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98848" y="228600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01768" y="2286000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skills · multi-AI roles · active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29016" y="2286000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2834640"/>
            <a:ext cx="8321040" cy="548640"/>
          </a:xfrm>
          <a:prstGeom prst="rect">
            <a:avLst/>
          </a:prstGeom>
          <a:solidFill>
            <a:srgbClr val="1A1535"/>
          </a:solidFill>
          <a:ln w="6350">
            <a:solidFill>
              <a:srgbClr val="5B2D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7121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2871216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CAND_0002025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04288" y="287121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Engineer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98848" y="287121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01768" y="2871216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AI skills · 0.80 response · multi-AI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29016" y="2871216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3419856"/>
            <a:ext cx="8321040" cy="548640"/>
          </a:xfrm>
          <a:prstGeom prst="rect">
            <a:avLst/>
          </a:prstGeom>
          <a:solidFill>
            <a:srgbClr val="0D0B1E"/>
          </a:solidFill>
          <a:ln w="6350">
            <a:solidFill>
              <a:srgbClr val="5B2D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45643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3456432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CAND_0002120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304288" y="345643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98848" y="345643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01768" y="3456432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skills · 4yr+ AI exp · active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129016" y="3456432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0.9867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4005072"/>
            <a:ext cx="8321040" cy="548640"/>
          </a:xfrm>
          <a:prstGeom prst="rect">
            <a:avLst/>
          </a:prstGeom>
          <a:solidFill>
            <a:srgbClr val="1A1535"/>
          </a:solidFill>
          <a:ln w="6350">
            <a:solidFill>
              <a:srgbClr val="5B2D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04164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4400" y="4041648"/>
            <a:ext cx="1389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CAND_0003791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304288" y="404164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98848" y="404164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01768" y="4041648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skills · multi-AI roles · product co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129016" y="4041648"/>
            <a:ext cx="786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1480" y="4663440"/>
            <a:ext cx="8321040" cy="365760"/>
          </a:xfrm>
          <a:prstGeom prst="roundRect">
            <a:avLst>
              <a:gd name="adj" fmla="val 15000"/>
            </a:avLst>
          </a:prstGeom>
          <a:solidFill>
            <a:srgbClr val="3D1F8C">
              <a:alpha val="70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6908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~10 seconds for 100,000 candidates  ·  CPU only  ·  0 API calls  ·  Passes validate_submission.py 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3840480"/>
            <a:ext cx="1828800" cy="1828800"/>
          </a:xfrm>
          <a:prstGeom prst="ellipse">
            <a:avLst/>
          </a:prstGeom>
          <a:solidFill>
            <a:srgbClr val="5B2DA8">
              <a:alpha val="45000"/>
            </a:srgbClr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400000">
            <a:off x="8046720" y="-274320"/>
            <a:ext cx="1645920" cy="1645920"/>
          </a:xfrm>
          <a:prstGeom prst="rect">
            <a:avLst/>
          </a:prstGeom>
          <a:solidFill>
            <a:srgbClr val="FF6B00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&amp; Why We Chose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6187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A153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6187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35331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6344" y="170078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353312"/>
            <a:ext cx="2971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pip dependencies — rank.py uses stdlib only: re, json, csv, math, argparse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A1535"/>
          </a:solidFill>
          <a:ln w="19050">
            <a:solidFill>
              <a:srgbClr val="5B2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4203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5B2DA8">
              <a:alpha val="45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263347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" y="298094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2633472"/>
            <a:ext cx="2971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model at inference — explicit weighted formula ensures reproducibility and explainability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82219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A1535"/>
          </a:solidFill>
          <a:ln w="19050">
            <a:solidFill>
              <a:srgbClr val="9B8B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82219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9B8BD4">
              <a:alpha val="45000"/>
            </a:srgbClr>
          </a:solidFill>
          <a:ln w="12700">
            <a:solidFill>
              <a:srgbClr val="9B8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391363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" y="426110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(dev only)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913632"/>
            <a:ext cx="2971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discussion &amp; code review during development; NO candidate data was sent to any LLM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A1535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26187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FF6B00">
              <a:alpha val="4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35331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I/O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18304" y="170078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stdlib: re, json, csv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1353312"/>
            <a:ext cx="2971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NLP lib needed; regex patterns handle all title and skill matching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54203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A1535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54203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06B6D4">
              <a:alpha val="4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63347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18304" y="298094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HTML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633472"/>
            <a:ext cx="2971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rawcruit_demo.html — browser-native, no framework; zero-dependency visual showcase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822192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A1535"/>
          </a:solidFill>
          <a:ln w="19050">
            <a:solidFill>
              <a:srgbClr val="FF6B0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22192"/>
            <a:ext cx="914400" cy="1143000"/>
          </a:xfrm>
          <a:prstGeom prst="roundRect">
            <a:avLst>
              <a:gd name="adj" fmla="val 10000"/>
            </a:avLst>
          </a:prstGeom>
          <a:solidFill>
            <a:srgbClr val="FF6B00">
              <a:alpha val="45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391363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ENV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18304" y="4261104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3913632"/>
            <a:ext cx="2971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CPU · 16GB RAM · Python 3.11; zero GPU needed; cloud or local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7132320" y="-365760"/>
            <a:ext cx="2286000" cy="2286000"/>
          </a:xfrm>
          <a:prstGeom prst="rect">
            <a:avLst/>
          </a:prstGeom>
          <a:solidFill>
            <a:srgbClr val="3D1F8C">
              <a:alpha val="55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3474720"/>
            <a:ext cx="1645920" cy="1645920"/>
          </a:xfrm>
          <a:prstGeom prst="ellipse">
            <a:avLst/>
          </a:prstGeom>
          <a:solidFill>
            <a:srgbClr val="FF6B00">
              <a:alpha val="35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ASSETS &amp;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Team Lazy4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2860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34440"/>
            <a:ext cx="4754880" cy="3520440"/>
          </a:xfrm>
          <a:prstGeom prst="roundRect">
            <a:avLst>
              <a:gd name="adj" fmla="val 2597"/>
            </a:avLst>
          </a:prstGeom>
          <a:solidFill>
            <a:srgbClr val="1A1535"/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533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Assets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755648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rank.py  </a:t>
            </a:r>
            <a:pPr indent="0" marL="0">
              <a:buNone/>
            </a:pPr>
            <a:r>
              <a:rPr lang="en-US" sz="10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ranking engine — single file, Python stdlib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2240280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submission.csv  </a:t>
            </a:r>
            <a:pPr indent="0" marL="0">
              <a:buNone/>
            </a:pPr>
            <a:r>
              <a:rPr lang="en-US" sz="10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ranked candidates with score + reasoning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2724912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submission_metadata.yaml  </a:t>
            </a:r>
            <a:pPr indent="0" marL="0">
              <a:buNone/>
            </a:pPr>
            <a:r>
              <a:rPr lang="en-US" sz="10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info, methodology, compute environment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954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3209544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 </a:t>
            </a:r>
            <a:pPr indent="0" marL="0">
              <a:buNone/>
            </a:pPr>
            <a:r>
              <a:rPr lang="en-US" sz="10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only — zero external packages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9417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" y="3694176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demo/rawcruit_demo.html  </a:t>
            </a:r>
            <a:pPr indent="0" marL="0">
              <a:buNone/>
            </a:pPr>
            <a:r>
              <a:rPr lang="en-US" sz="10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browser demo — open in any browser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7880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7552" y="4178808"/>
            <a:ext cx="40416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</a:t>
            </a:r>
            <a:pPr indent="0" marL="0">
              <a:buNone/>
            </a:pPr>
            <a:r>
              <a:rPr lang="en-US" sz="10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docs + architecture + usage guide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709160"/>
            <a:ext cx="4754880" cy="347472"/>
          </a:xfrm>
          <a:prstGeom prst="roundRect">
            <a:avLst>
              <a:gd name="adj" fmla="val 15789"/>
            </a:avLst>
          </a:prstGeom>
          <a:solidFill>
            <a:srgbClr val="3D1F8C">
              <a:alpha val="80000"/>
            </a:srgbClr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365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github.com/lazy4/rawcruit-ranker  ·  huggingface.co/spaces/lazy4/rawcruit-ranker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9240" y="1234440"/>
            <a:ext cx="3383280" cy="3520440"/>
          </a:xfrm>
          <a:prstGeom prst="roundRect">
            <a:avLst>
              <a:gd name="adj" fmla="val 2703"/>
            </a:avLst>
          </a:prstGeom>
          <a:solidFill>
            <a:srgbClr val="1A1535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3533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Lazy4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40680" y="176479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0D0B1E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4688" y="1828800"/>
            <a:ext cx="292608" cy="29260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17922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 Chaudhary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70448" y="2057400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Full Stack AI · ML Engineer · System Architect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70448" y="2267712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rakshitr2005@gmail.com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256946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0D0B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263347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259689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Jashan Kainth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70448" y="286207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 · NLP Engineer · Data Scientist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70448" y="3072384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jashankainth369@gmail.com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3374136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0D0B1E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3438144"/>
            <a:ext cx="292608" cy="292608"/>
          </a:xfrm>
          <a:prstGeom prst="ellipse">
            <a:avLst/>
          </a:prstGeom>
          <a:solidFill>
            <a:srgbClr val="5B2DA8"/>
          </a:solidFill>
          <a:ln w="12700">
            <a:solidFill>
              <a:srgbClr val="5B2D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4015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2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870448" y="3666744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 · Cloud &amp; Database · API Developer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70448" y="387705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rrajat_be24@thapar.edu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40680" y="4178808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0D0B1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04688" y="4242816"/>
            <a:ext cx="292608" cy="29260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70448" y="4206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Bhagat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870448" y="447141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 · UI/UX · React Developer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70448" y="468172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abhagat_be24@thapar.edu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731520" y="-457200"/>
            <a:ext cx="4572000" cy="4572000"/>
          </a:xfrm>
          <a:prstGeom prst="rect">
            <a:avLst/>
          </a:prstGeom>
          <a:solidFill>
            <a:srgbClr val="3D1F8C">
              <a:alpha val="45000"/>
            </a:srgbClr>
          </a:solidFill>
          <a:ln w="25400">
            <a:solidFill>
              <a:srgbClr val="5B2D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200000">
            <a:off x="5943600" y="1371600"/>
            <a:ext cx="4572000" cy="4572000"/>
          </a:xfrm>
          <a:prstGeom prst="rect">
            <a:avLst/>
          </a:prstGeom>
          <a:solidFill>
            <a:srgbClr val="FF6B00">
              <a:alpha val="3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-457200"/>
            <a:ext cx="3200400" cy="3200400"/>
          </a:xfrm>
          <a:prstGeom prst="ellipse">
            <a:avLst/>
          </a:prstGeom>
          <a:solidFill>
            <a:srgbClr val="5B2DA8">
              <a:alpha val="35000"/>
            </a:srgbClr>
          </a:solidFill>
          <a:ln w="19050">
            <a:solidFill>
              <a:srgbClr val="5B2D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3657600" y="4114800"/>
            <a:ext cx="2743200" cy="2743200"/>
          </a:xfrm>
          <a:prstGeom prst="rect">
            <a:avLst/>
          </a:prstGeom>
          <a:solidFill>
            <a:srgbClr val="FF6B00">
              <a:alpha val="40000"/>
            </a:srgbClr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 |  H2S  ·  INDIA.RUNS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RAWCRUIT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365760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spc="200" kern="0" dirty="0">
                <a:solidFill>
                  <a:srgbClr val="9B8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what next India runs 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Lazy4  ·  Rakshit · Jashan · Rajat · Ashish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github.com/lazy4/rawcruit-ranker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RAWCRUIT — Team Lazy4</dc:title>
  <dc:subject>PptxGenJS Presentation</dc:subject>
  <dc:creator>PptxGenJS</dc:creator>
  <cp:lastModifiedBy>PptxGenJS</cp:lastModifiedBy>
  <cp:revision>1</cp:revision>
  <dcterms:created xsi:type="dcterms:W3CDTF">2026-06-28T13:17:57Z</dcterms:created>
  <dcterms:modified xsi:type="dcterms:W3CDTF">2026-06-28T13:17:57Z</dcterms:modified>
</cp:coreProperties>
</file>